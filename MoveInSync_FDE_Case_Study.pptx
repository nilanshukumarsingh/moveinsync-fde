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1B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35440" y="685800"/>
            <a:ext cx="2331720" cy="100584"/>
          </a:xfrm>
          <a:prstGeom prst="roundRect">
            <a:avLst>
              <a:gd name="adj" fmla="val 12000"/>
            </a:avLst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5440" y="960120"/>
            <a:ext cx="1737360" cy="100584"/>
          </a:xfrm>
          <a:prstGeom prst="roundRect">
            <a:avLst>
              <a:gd name="adj" fmla="val 12000"/>
            </a:avLst>
          </a:prstGeom>
          <a:solidFill>
            <a:srgbClr val="ED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5440" y="1234440"/>
            <a:ext cx="2057400" cy="100584"/>
          </a:xfrm>
          <a:prstGeom prst="roundRect">
            <a:avLst>
              <a:gd name="adj" fmla="val 12000"/>
            </a:avLst>
          </a:prstGeom>
          <a:solidFill>
            <a:srgbClr val="EF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7132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991"/>
                </a:solidFill>
                <a:latin typeface="Aptos"/>
              </a:rPr>
              <a:t>FORWARD DEPLOYED ENGINEER  /  CANDIDATE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740664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Fix the commute.
Earn the rating.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71800"/>
            <a:ext cx="658368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3DEEC"/>
                </a:solidFill>
                <a:latin typeface="Aptos"/>
              </a:rPr>
              <a:t>A review-led plan to improve MoveInSync’s employee journey on Google Play.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096512"/>
            <a:ext cx="1051560" cy="54864"/>
          </a:xfrm>
          <a:prstGeom prst="rect">
            <a:avLst/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43484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Prepared by Nilanshu Kumar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800600"/>
            <a:ext cx="6126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7C6D8"/>
                </a:solidFill>
                <a:latin typeface="Aptos"/>
              </a:rPr>
              <a:t>Evidence base: public Play Store listings and visible reviews (Oct 2026) + assignment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2011680"/>
            <a:ext cx="2057400" cy="566928"/>
          </a:xfrm>
          <a:prstGeom prst="roundRect">
            <a:avLst>
              <a:gd name="adj" fmla="val 12000"/>
            </a:avLst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3728" y="2084832"/>
            <a:ext cx="19842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95560" y="2587752"/>
            <a:ext cx="73152" cy="256032"/>
          </a:xfrm>
          <a:prstGeom prst="roundRect">
            <a:avLst>
              <a:gd name="adj" fmla="val 12000"/>
            </a:avLst>
          </a:prstGeom>
          <a:solidFill>
            <a:srgbClr val="6C8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17152" y="2852928"/>
            <a:ext cx="2057400" cy="566928"/>
          </a:xfrm>
          <a:prstGeom prst="roundRect">
            <a:avLst>
              <a:gd name="adj" fmla="val 12000"/>
            </a:avLst>
          </a:prstGeom>
          <a:solidFill>
            <a:srgbClr val="4E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926080"/>
            <a:ext cx="19842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3429000"/>
            <a:ext cx="73152" cy="256032"/>
          </a:xfrm>
          <a:prstGeom prst="roundRect">
            <a:avLst>
              <a:gd name="adj" fmla="val 12000"/>
            </a:avLst>
          </a:prstGeom>
          <a:solidFill>
            <a:srgbClr val="6C8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17152" y="3694176"/>
            <a:ext cx="2057400" cy="566928"/>
          </a:xfrm>
          <a:prstGeom prst="roundRect">
            <a:avLst>
              <a:gd name="adj" fmla="val 12000"/>
            </a:avLst>
          </a:prstGeom>
          <a:solidFill>
            <a:srgbClr val="EF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3767328"/>
            <a:ext cx="19842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4270248"/>
            <a:ext cx="73152" cy="256032"/>
          </a:xfrm>
          <a:prstGeom prst="roundRect">
            <a:avLst>
              <a:gd name="adj" fmla="val 12000"/>
            </a:avLst>
          </a:prstGeom>
          <a:solidFill>
            <a:srgbClr val="6C8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7152" y="4535424"/>
            <a:ext cx="2057400" cy="566928"/>
          </a:xfrm>
          <a:prstGeom prst="roundRect">
            <a:avLst>
              <a:gd name="adj" fmla="val 12000"/>
            </a:avLst>
          </a:prstGeom>
          <a:solidFill>
            <a:srgbClr val="ED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4608576"/>
            <a:ext cx="19842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RESOLVE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263640"/>
            <a:ext cx="6400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2C8"/>
                </a:solidFill>
                <a:latin typeface="Aptos"/>
              </a:rPr>
              <a:t>13 OCT 2026  •  Recommendations are hypotheses until validated with product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01 /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F36"/>
                </a:solidFill>
                <a:latin typeface="Aptos"/>
              </a:rPr>
              <a:t>The rating problem is a journey-reliability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081"/>
                </a:solidFill>
                <a:latin typeface="Aptos"/>
              </a:rPr>
              <a:t>The public listing is already rated 4.6/5 (~1.15 lakh ratings, listing checked Oct 2026); the opportunity is to prevent avoidable bad commute experiences.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10996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081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81"/>
                </a:solidFill>
                <a:latin typeface="Aptos"/>
              </a:rPr>
              <a:t>MOVEINSYNC  /  FDE CASE STUDY  /  NILANSHU KUMAR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002536"/>
            <a:ext cx="1691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09991"/>
                </a:solidFill>
                <a:latin typeface="Aptos"/>
              </a:rPr>
              <a:t>4.6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23160"/>
            <a:ext cx="1691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37081"/>
                </a:solidFill>
                <a:latin typeface="Aptos"/>
              </a:rPr>
              <a:t>Headline rating shown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74519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2002536"/>
            <a:ext cx="1691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4E7EC6"/>
                </a:solidFill>
                <a:latin typeface="Aptos"/>
              </a:rPr>
              <a:t>1.15 lakh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423160"/>
            <a:ext cx="1691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37081"/>
                </a:solidFill>
                <a:latin typeface="Aptos"/>
              </a:rPr>
              <a:t>Reviews shown on listing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874519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9784" y="2002536"/>
            <a:ext cx="1691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ED6B58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2423160"/>
            <a:ext cx="16916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37081"/>
                </a:solidFill>
                <a:latin typeface="Aptos"/>
              </a:rPr>
              <a:t>Commute-critical P0 bets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74519"/>
            <a:ext cx="4160520" cy="960120"/>
          </a:xfrm>
          <a:prstGeom prst="roundRect">
            <a:avLst>
              <a:gd name="adj" fmla="val 12000"/>
            </a:avLst>
          </a:prstGeom>
          <a:solidFill>
            <a:srgbClr val="12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029968"/>
            <a:ext cx="3703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NORTH 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313432"/>
            <a:ext cx="3657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A booked ride should feel booked.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46120"/>
            <a:ext cx="5120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28B60"/>
                </a:solidFill>
                <a:latin typeface="Aptos"/>
              </a:rPr>
              <a:t>WHAT REVIEWERS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566160"/>
            <a:ext cx="5166360" cy="214884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43041"/>
                </a:solidFill>
                <a:latin typeface="Aptos"/>
              </a:defRPr>
            </a:pPr>
            <a:r>
              <a:t>•  Convenient office commute and one place for ride information</a:t>
            </a:r>
          </a:p>
          <a:p>
            <a:pPr>
              <a:spcAft>
                <a:spcPts val="1200"/>
              </a:spcAft>
              <a:defRPr sz="1400">
                <a:solidFill>
                  <a:srgbClr val="243041"/>
                </a:solidFill>
                <a:latin typeface="Aptos"/>
              </a:defRPr>
            </a:pPr>
            <a:r>
              <a:t>•  Live vehicle tracking and useful trip alerts when they work</a:t>
            </a:r>
          </a:p>
          <a:p>
            <a:pPr>
              <a:spcAft>
                <a:spcPts val="1200"/>
              </a:spcAft>
              <a:defRPr sz="1400">
                <a:solidFill>
                  <a:srgbClr val="243041"/>
                </a:solidFill>
                <a:latin typeface="Aptos"/>
              </a:defRPr>
            </a:pPr>
            <a:r>
              <a:t>•  Professional drivers, comfortable rides, and helpful support in positive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46120"/>
            <a:ext cx="5120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6B58"/>
                </a:solidFill>
                <a:latin typeface="Aptos"/>
              </a:rPr>
              <a:t>WHAT BREAKS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66160"/>
            <a:ext cx="5212080" cy="214884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43041"/>
                </a:solidFill>
                <a:latin typeface="Aptos"/>
              </a:defRPr>
            </a:pPr>
            <a:r>
              <a:t>•  Booking state is unclear; users can leave believing a ride is booked</a:t>
            </a:r>
          </a:p>
          <a:p>
            <a:pPr>
              <a:spcAft>
                <a:spcPts val="1200"/>
              </a:spcAft>
              <a:defRPr sz="1400">
                <a:solidFill>
                  <a:srgbClr val="243041"/>
                </a:solidFill>
                <a:latin typeface="Aptos"/>
              </a:defRPr>
            </a:pPr>
            <a:r>
              <a:t>•  Stale GPS / inaccurate ETA and missing or delayed notifications</a:t>
            </a:r>
          </a:p>
          <a:p>
            <a:pPr>
              <a:spcAft>
                <a:spcPts val="1200"/>
              </a:spcAft>
              <a:defRPr sz="1400">
                <a:solidFill>
                  <a:srgbClr val="243041"/>
                </a:solidFill>
                <a:latin typeface="Aptos"/>
              </a:defRPr>
            </a:pPr>
            <a:r>
              <a:t>•  Surprise no-shows, app loading/crashes, and unclear issue ownership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806440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D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879592"/>
            <a:ext cx="10469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Recommendation: fix the commute-critical failures before optimizing rating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02 / READING THE STAR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F36"/>
                </a:solidFill>
                <a:latin typeface="Aptos"/>
              </a:rPr>
              <a:t>How to read each star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081"/>
                </a:solidFill>
                <a:latin typeface="Aptos"/>
              </a:rPr>
              <a:t>A reading framework for severity and strengths. Not measured evidence, and not representative of the whole user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10996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081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81"/>
                </a:solidFill>
                <a:latin typeface="Aptos"/>
              </a:rPr>
              <a:t>MOVEINSYNC  /  FDE CASE STUDY  /  NILANSHU KUMAR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2121408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066543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185416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D6B58"/>
                </a:solidFill>
                <a:latin typeface="Aptos"/>
              </a:rPr>
              <a:t>1★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89504"/>
            <a:ext cx="1828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Broken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429000"/>
            <a:ext cx="1810512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Booking fails or is ambiguous; tracking and app reliability can disrupt a time-critical commute.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901952"/>
            <a:ext cx="2121408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26664" y="2066543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FFF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185416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E8646"/>
                </a:solidFill>
                <a:latin typeface="Aptos"/>
              </a:rPr>
              <a:t>2★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889504"/>
            <a:ext cx="1828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Works, with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429000"/>
            <a:ext cx="1810512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Core use case has value, but navigation, loading, location edits, notifications, or recovery can be painful.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1901952"/>
            <a:ext cx="2121408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40096" y="2066543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185416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4E7EC6"/>
                </a:solidFill>
                <a:latin typeface="Aptos"/>
              </a:rPr>
              <a:t>3★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889504"/>
            <a:ext cx="1828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Useful, not effortless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429000"/>
            <a:ext cx="1810512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Users often see the utility but ask for more predictable workflows, clearer information, and fewer limitations.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3" y="1901952"/>
            <a:ext cx="2121408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53527" y="2066543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D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2185416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09991"/>
                </a:solidFill>
                <a:latin typeface="Aptos"/>
              </a:rPr>
              <a:t>4★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7" y="2889504"/>
            <a:ext cx="1828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Positive with 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3429000"/>
            <a:ext cx="1810512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Convenience and core functionality are appreciated; common asks include maps, reminders, booking flexibility, and messaging.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0655" y="1901952"/>
            <a:ext cx="2121408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6959" y="2066543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E5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76103" y="2185416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328B60"/>
                </a:solidFill>
                <a:latin typeface="Aptos"/>
              </a:rPr>
              <a:t>5★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59" y="2889504"/>
            <a:ext cx="1828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Value delivered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9" y="3429000"/>
            <a:ext cx="1810512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Praise centers on simplified commute, accurate tracking when it works, smooth booking, driver behavior, and convenience.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321808"/>
            <a:ext cx="10817352" cy="676656"/>
          </a:xfrm>
          <a:prstGeom prst="roundRect">
            <a:avLst>
              <a:gd name="adj" fmla="val 12000"/>
            </a:avLst>
          </a:prstGeom>
          <a:solidFill>
            <a:srgbClr val="12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458968"/>
            <a:ext cx="103784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Interpretation: high overall satisfaction can coexist with a small number of high-impact failures—especially when a missed ride affects work attendance.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789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37081"/>
                </a:solidFill>
                <a:latin typeface="Aptos"/>
              </a:rPr>
              <a:t>Method note: star labels were not preserved on the review text I collected, so these bands are a reading framework, not measured results. No percentages are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03 / EVIDENCE FROM THE PUBLIC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F36"/>
                </a:solidFill>
                <a:latin typeface="Aptos"/>
              </a:rPr>
              <a:t>Six themes repeatedly connect to the employee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081"/>
                </a:solidFill>
                <a:latin typeface="Aptos"/>
              </a:rPr>
              <a:t>Examples below are paraphrases of visible public reviews; they are qualitative signals, not prevalence estimates.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10996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081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81"/>
                </a:solidFill>
                <a:latin typeface="Aptos"/>
              </a:rPr>
              <a:t>MOVEINSYNC  /  FDE CASE STUDY  /  NILANSHU KUMAR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56231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93391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D6B5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84248"/>
            <a:ext cx="26060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Booking clarity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3"/>
            <a:ext cx="30906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A user thought a cab was booked after the UI changed, then discovered no booking existed.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91256"/>
            <a:ext cx="1005840" cy="182880"/>
          </a:xfrm>
          <a:prstGeom prst="roundRect">
            <a:avLst>
              <a:gd name="adj" fmla="val 12000"/>
            </a:avLst>
          </a:prstGeom>
          <a:solidFill>
            <a:srgbClr val="ED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92807" y="3163824"/>
            <a:ext cx="17373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D6B58"/>
                </a:solidFill>
                <a:latin typeface="Aptos"/>
              </a:rPr>
              <a:t>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856231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93391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E7EC6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1984248"/>
            <a:ext cx="26060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GPS &amp; ETA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432303"/>
            <a:ext cx="30906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Reviews describe stale vehicle location, wrong pickup/drop estimates, map behavior, and missing rider locations.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4568" y="3191256"/>
            <a:ext cx="1005840" cy="182880"/>
          </a:xfrm>
          <a:prstGeom prst="roundRect">
            <a:avLst>
              <a:gd name="adj" fmla="val 12000"/>
            </a:avLst>
          </a:prstGeom>
          <a:solidFill>
            <a:srgbClr val="4E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136" y="3163824"/>
            <a:ext cx="17373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E7EC6"/>
                </a:solidFill>
                <a:latin typeface="Aptos"/>
              </a:rPr>
              <a:t>TRACK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856231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993391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FB44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1984248"/>
            <a:ext cx="26060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No-show &amp; cancellation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432303"/>
            <a:ext cx="30906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Users report surprise no-show outcomes, accidental cancellation risk, and requests for pickup/check-in reminders.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11896" y="3191256"/>
            <a:ext cx="1005840" cy="182880"/>
          </a:xfrm>
          <a:prstGeom prst="roundRect">
            <a:avLst>
              <a:gd name="adj" fmla="val 12000"/>
            </a:avLst>
          </a:prstGeom>
          <a:solidFill>
            <a:srgbClr val="EF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7464" y="3163824"/>
            <a:ext cx="17373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FB44C"/>
                </a:solidFill>
                <a:latin typeface="Aptos"/>
              </a:rPr>
              <a:t>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76472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913632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D6B58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3904487"/>
            <a:ext cx="26060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App 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352544"/>
            <a:ext cx="30906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Slow loads, crashes, repeated login/OTP issues, and reinstall workarounds interrupt urgent tasks.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111496"/>
            <a:ext cx="1005840" cy="182880"/>
          </a:xfrm>
          <a:prstGeom prst="roundRect">
            <a:avLst>
              <a:gd name="adj" fmla="val 12000"/>
            </a:avLst>
          </a:prstGeom>
          <a:solidFill>
            <a:srgbClr val="ED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92807" y="5084064"/>
            <a:ext cx="17373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D6B58"/>
                </a:solidFill>
                <a:latin typeface="Aptos"/>
              </a:rPr>
              <a:t>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3776472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913632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9991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0056" y="3904487"/>
            <a:ext cx="26060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Notifications &amp;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352544"/>
            <a:ext cx="30906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Late/missing alerts, excessive pop-ups, and requests for clearer driver/rider coordination appear.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4568" y="5111496"/>
            <a:ext cx="1005840" cy="182880"/>
          </a:xfrm>
          <a:prstGeom prst="roundRect">
            <a:avLst>
              <a:gd name="adj" fmla="val 12000"/>
            </a:avLst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0136" y="5084064"/>
            <a:ext cx="17373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9991"/>
                </a:solidFill>
                <a:latin typeface="Aptos"/>
              </a:rPr>
              <a:t>ALERT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9016" y="3776472"/>
            <a:ext cx="349300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3913632"/>
            <a:ext cx="438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28B60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3904487"/>
            <a:ext cx="26060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Support &amp; 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4352544"/>
            <a:ext cx="30906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041"/>
                </a:solidFill>
                <a:latin typeface="Aptos"/>
              </a:rPr>
              <a:t>Some problems may depend on employer policies or transport operations; users need a visible owner and status.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1896" y="5111496"/>
            <a:ext cx="1005840" cy="182880"/>
          </a:xfrm>
          <a:prstGeom prst="roundRect">
            <a:avLst>
              <a:gd name="adj" fmla="val 12000"/>
            </a:avLst>
          </a:prstGeom>
          <a:solidFill>
            <a:srgbClr val="32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7464" y="5084064"/>
            <a:ext cx="17373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328B60"/>
                </a:solidFill>
                <a:latin typeface="Aptos"/>
              </a:rPr>
              <a:t>RESOLVE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" y="5870448"/>
            <a:ext cx="10927080" cy="329184"/>
          </a:xfrm>
          <a:prstGeom prst="roundRect">
            <a:avLst>
              <a:gd name="adj" fmla="val 12000"/>
            </a:avLst>
          </a:prstGeom>
          <a:solidFill>
            <a:srgbClr val="FFF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5916168"/>
            <a:ext cx="10515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21F36"/>
                </a:solidFill>
                <a:latin typeface="Aptos"/>
              </a:rPr>
              <a:t>Scope boundary: separate app defects from employer policy, transport planning, and driver operations before assigning engineering ownership.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04 / WHAT TO FIX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F36"/>
                </a:solidFill>
                <a:latin typeface="Aptos"/>
              </a:rPr>
              <a:t>Prioritize failures that can make an employee miss a 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081"/>
                </a:solidFill>
                <a:latin typeface="Aptos"/>
              </a:rPr>
              <a:t>A practical backlog for Product, Engineering, Operations, and the FDE—not a feature wishlist.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10996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081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81"/>
                </a:solidFill>
                <a:latin typeface="Aptos"/>
              </a:rPr>
              <a:t>MOVEINSYNC  /  FDE CASE STUDY  /  NILANSHU KUMAR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65376"/>
            <a:ext cx="3456432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865376"/>
            <a:ext cx="3456432" cy="502920"/>
          </a:xfrm>
          <a:prstGeom prst="roundRect">
            <a:avLst>
              <a:gd name="adj" fmla="val 12000"/>
            </a:avLst>
          </a:prstGeom>
          <a:solidFill>
            <a:srgbClr val="ED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65960"/>
            <a:ext cx="30906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P0  / 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587752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51760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D6B58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587752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Booking 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" y="2926080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Booked / Pending / Not booked status, trip details, safe retry. Owner: Product + Android.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65760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721608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D6B58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3657600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Tracking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1016" y="3995928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Show last GPS update; track stale pings and ETA error. Owner: Engineering.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472744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791456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D6B58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4727448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No-show fairness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5065776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Pickup reminder, check-in state, dispute path. Owner: Product + Ops.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1865376"/>
            <a:ext cx="3456432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61688" y="1865376"/>
            <a:ext cx="3456432" cy="502920"/>
          </a:xfrm>
          <a:prstGeom prst="roundRect">
            <a:avLst>
              <a:gd name="adj" fmla="val 12000"/>
            </a:avLst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79" y="1965960"/>
            <a:ext cx="30906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P1  /  NEXT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79" y="2587752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D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2651760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9991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8344" y="2587752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Stability &amp;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2926080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Fix crashes, long loads, OTP/login loops, and reinstall-required failures.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79" y="365760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D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3721608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9991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8344" y="3657600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Notification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8344" y="3995928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Prioritize actionable trip alerts; remove duplicate or blocking pop-ups.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79" y="472744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D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79" y="4791456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9991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44" y="4727448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Issue ownership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8344" y="5065776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In-app ticket receipt, category routing, status, SLA, and closure message.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9016" y="1865376"/>
            <a:ext cx="3456432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29016" y="1865376"/>
            <a:ext cx="3456432" cy="502920"/>
          </a:xfrm>
          <a:prstGeom prst="roundRect">
            <a:avLst>
              <a:gd name="adj" fmla="val 12000"/>
            </a:avLst>
          </a:prstGeom>
          <a:solidFill>
            <a:srgbClr val="4E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1965960"/>
            <a:ext cx="309067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P2  /  VALIDATE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93608" y="2587752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3608" y="2651760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E7EC6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2587752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Location flexibility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05672" y="2926080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Make pickup/drop edits and policy limits explicit before booking.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3608" y="3657600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3608" y="3721608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E7EC6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05672" y="3657600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Coordination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05672" y="3995928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Evaluate secure driver messaging/calling within employer safety policies.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93608" y="472744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3608" y="4791456"/>
            <a:ext cx="40233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E7EC6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05672" y="4727448"/>
            <a:ext cx="2560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1F36"/>
                </a:solidFill>
                <a:latin typeface="Aptos"/>
              </a:rPr>
              <a:t>Rating experience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5672" y="5065776"/>
            <a:ext cx="2542032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Use neutral, capped review prompts only after a successful journey.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05 /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F36"/>
                </a:solidFill>
                <a:latin typeface="Aptos"/>
              </a:rPr>
              <a:t>Turn review themes into a 30-day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081"/>
                </a:solidFill>
                <a:latin typeface="Aptos"/>
              </a:rPr>
              <a:t>Start with evidence and instrumentation; ship narrow fixes; then verify that the real journey improved.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10996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081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81"/>
                </a:solidFill>
                <a:latin typeface="Aptos"/>
              </a:rPr>
              <a:t>MOVEINSYNC  /  FDE CASE STUDY  /  NILANSHU KUMAR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47672"/>
            <a:ext cx="2587752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947672"/>
            <a:ext cx="2587752" cy="594360"/>
          </a:xfrm>
          <a:prstGeom prst="roundRect">
            <a:avLst>
              <a:gd name="adj" fmla="val 12000"/>
            </a:avLst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75688"/>
            <a:ext cx="22860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DAYS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24912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Baseline &amp;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73552"/>
            <a:ext cx="2313432" cy="224028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Capture rating/review-count snapshot and collect a reproducible recent review sample.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Tag reviews by theme, severity, app version if known, and likely owner.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Pair review signals with booking, GPS, notification, crash, and support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947672"/>
            <a:ext cx="2587752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947672"/>
            <a:ext cx="2587752" cy="594360"/>
          </a:xfrm>
          <a:prstGeom prst="roundRect">
            <a:avLst>
              <a:gd name="adj" fmla="val 12000"/>
            </a:avLst>
          </a:prstGeom>
          <a:solidFill>
            <a:srgbClr val="4E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075688"/>
            <a:ext cx="22860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DAYS 4–7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724912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Reproduce &amp;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3273552"/>
            <a:ext cx="2313432" cy="224028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Replay booking-state and stale-GPS issues with QA and Operations.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Map no-show triggers, cancellation cut-offs, and employer-specific policy boundaries.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Create owner-assigned issues with acceptance criteria and baseline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947672"/>
            <a:ext cx="2587752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1947672"/>
            <a:ext cx="2587752" cy="594360"/>
          </a:xfrm>
          <a:prstGeom prst="roundRect">
            <a:avLst>
              <a:gd name="adj" fmla="val 12000"/>
            </a:avLst>
          </a:prstGeom>
          <a:solidFill>
            <a:srgbClr val="EF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075688"/>
            <a:ext cx="22860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724912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Ship small fixes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273552"/>
            <a:ext cx="2313432" cy="224028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Improve booking status and retry safety; expose GPS freshness.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Add a no-show reminder/dispute prototype behind a controlled rollout.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Add ticket receipt/status and trim duplicate or blocking notifications.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1947672"/>
            <a:ext cx="2587752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0576" y="1947672"/>
            <a:ext cx="2587752" cy="594360"/>
          </a:xfrm>
          <a:prstGeom prst="roundRect">
            <a:avLst>
              <a:gd name="adj" fmla="val 12000"/>
            </a:avLst>
          </a:prstGeom>
          <a:solidFill>
            <a:srgbClr val="ED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075688"/>
            <a:ext cx="22860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WEEKS 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724912"/>
            <a:ext cx="2286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F36"/>
                </a:solidFill>
                <a:latin typeface="Aptos"/>
              </a:rPr>
              <a:t>Measure &amp; iterate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3273552"/>
            <a:ext cx="2313432" cy="224028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Release to a limited cohort; compare before/after by app version and trip cohort.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Read new 1–2★ and 4–5★ samples; manually audit the theme classifier.</a:t>
            </a:r>
          </a:p>
          <a:p>
            <a:pPr>
              <a:spcAft>
                <a:spcPts val="800"/>
              </a:spcAft>
              <a:defRPr sz="1000">
                <a:solidFill>
                  <a:srgbClr val="243041"/>
                </a:solidFill>
                <a:latin typeface="Aptos"/>
              </a:defRPr>
            </a:pPr>
            <a:r>
              <a:t>•  Scale fixes that improve operational KPIs without harming safety or usability.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989320"/>
            <a:ext cx="10835640" cy="320040"/>
          </a:xfrm>
          <a:prstGeom prst="roundRect">
            <a:avLst>
              <a:gd name="adj" fmla="val 12000"/>
            </a:avLst>
          </a:prstGeom>
          <a:solidFill>
            <a:srgbClr val="12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6035040"/>
            <a:ext cx="104241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Operating rule: no target percentages until a clean baseline exists; set targets with Product, Ops, and Engineering after week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06 /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F36"/>
                </a:solidFill>
                <a:latin typeface="Aptos"/>
              </a:rPr>
              <a:t>Measure the commute—not just the stars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081"/>
                </a:solidFill>
                <a:latin typeface="Aptos"/>
              </a:rPr>
              <a:t>Ratings are a lagging signal. Pair them with leading operational metrics so teams can see whether the experience actually improved.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10996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081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81"/>
                </a:solidFill>
                <a:latin typeface="Aptos"/>
              </a:rPr>
              <a:t>MOVEINSYNC  /  FDE CASE STUDY  /  NILANSHU KUMAR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92807"/>
            <a:ext cx="523036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066543"/>
            <a:ext cx="1207008" cy="621792"/>
          </a:xfrm>
          <a:prstGeom prst="roundRect">
            <a:avLst>
              <a:gd name="adj" fmla="val 12000"/>
            </a:avLst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49424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D6B58"/>
                </a:solidFill>
                <a:latin typeface="Aptos"/>
              </a:rPr>
              <a:t>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84831"/>
            <a:ext cx="3456432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1"/>
                </a:solidFill>
                <a:latin typeface="Aptos"/>
              </a:rPr>
              <a:t>Completion rate • duplicate/ambiguous booking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92807"/>
            <a:ext cx="523036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2066543"/>
            <a:ext cx="1207008" cy="621792"/>
          </a:xfrm>
          <a:prstGeom prst="roundRect">
            <a:avLst>
              <a:gd name="adj" fmla="val 12000"/>
            </a:avLst>
          </a:prstGeom>
          <a:solidFill>
            <a:srgbClr val="E6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249424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E7EC6"/>
                </a:solidFill>
                <a:latin typeface="Aptos"/>
              </a:rPr>
              <a:t>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084831"/>
            <a:ext cx="3456432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1"/>
                </a:solidFill>
                <a:latin typeface="Aptos"/>
              </a:rPr>
              <a:t>GPS freshness P50/P90 • pickup ETA absolute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27248"/>
            <a:ext cx="523036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300984"/>
            <a:ext cx="1207008" cy="621792"/>
          </a:xfrm>
          <a:prstGeom prst="roundRect">
            <a:avLst>
              <a:gd name="adj" fmla="val 12000"/>
            </a:avLst>
          </a:prstGeom>
          <a:solidFill>
            <a:srgbClr val="FFF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483864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FB44C"/>
                </a:solidFill>
                <a:latin typeface="Aptos"/>
              </a:rPr>
              <a:t>NO-SHOW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319272"/>
            <a:ext cx="3456432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1"/>
                </a:solidFill>
                <a:latin typeface="Aptos"/>
              </a:rPr>
              <a:t>Disputed no-shows per 1,000 trips • false no-show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127248"/>
            <a:ext cx="523036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36792" y="3300984"/>
            <a:ext cx="1207008" cy="621792"/>
          </a:xfrm>
          <a:prstGeom prst="roundRect">
            <a:avLst>
              <a:gd name="adj" fmla="val 12000"/>
            </a:avLst>
          </a:prstGeom>
          <a:solidFill>
            <a:srgbClr val="D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483864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319272"/>
            <a:ext cx="3456432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1"/>
                </a:solidFill>
                <a:latin typeface="Aptos"/>
              </a:rPr>
              <a:t>Crash-free sessions • p95 app load time • OTP success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61688"/>
            <a:ext cx="523036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4535424"/>
            <a:ext cx="1207008" cy="621792"/>
          </a:xfrm>
          <a:prstGeom prst="roundRect">
            <a:avLst>
              <a:gd name="adj" fmla="val 12000"/>
            </a:avLst>
          </a:prstGeom>
          <a:solidFill>
            <a:srgbClr val="E5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718303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28B60"/>
                </a:solidFill>
                <a:latin typeface="Aptos"/>
              </a:rPr>
              <a:t>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553712"/>
            <a:ext cx="3456432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1"/>
                </a:solidFill>
                <a:latin typeface="Aptos"/>
              </a:rPr>
              <a:t>Delivery latency • failed/dismissed alert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361688"/>
            <a:ext cx="523036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36792" y="4535424"/>
            <a:ext cx="1207008" cy="621792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718303"/>
            <a:ext cx="1133856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B2D49"/>
                </a:solidFill>
                <a:latin typeface="Aptos"/>
              </a:rPr>
              <a:t>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553712"/>
            <a:ext cx="3456432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041"/>
                </a:solidFill>
                <a:latin typeface="Aptos"/>
              </a:rPr>
              <a:t>Time to owner • first response • resolution • repeat issue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42432"/>
            <a:ext cx="10771632" cy="530352"/>
          </a:xfrm>
          <a:prstGeom prst="roundRect">
            <a:avLst>
              <a:gd name="adj" fmla="val 12000"/>
            </a:avLst>
          </a:prstGeom>
          <a:solidFill>
            <a:srgbClr val="DA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833872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1F36"/>
                </a:solidFill>
                <a:latin typeface="Aptos"/>
              </a:rPr>
              <a:t>Rating scorecard: rolling 30-day average • 1–2★ share • themes by star band • review response time • version-level trend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07 / REPEATABILITY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1F36"/>
                </a:solidFill>
                <a:latin typeface="Aptos"/>
              </a:rPr>
              <a:t>Make “How are our ratings?” a weekly answer, not a one-off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7081"/>
                </a:solidFill>
                <a:latin typeface="Aptos"/>
              </a:rPr>
              <a:t>The assignment explicitly says this question will recur. Build a lightweight review-intelligence loop that produces evidence and owners.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572768"/>
            <a:ext cx="11109960" cy="13716"/>
          </a:xfrm>
          <a:prstGeom prst="rect">
            <a:avLst/>
          </a:prstGeom>
          <a:solidFill>
            <a:srgbClr val="E0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37081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81"/>
                </a:solidFill>
                <a:latin typeface="Aptos"/>
              </a:rPr>
              <a:t>MOVEINSYNC  /  FDE CASE STUDY  /  NILANSHU KUMAR SINGH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2084831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46120"/>
            <a:ext cx="1773936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Store snapshot + recent written reviews; record date, app, language, and available star metadata.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43200"/>
            <a:ext cx="201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37081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9504" y="1993392"/>
            <a:ext cx="2084831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35808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7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240280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246120"/>
            <a:ext cx="1773936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Tag booking, GPS/ETA, no-show, reliability, notifications, support, policy, safety, positive, other.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336" y="2743200"/>
            <a:ext cx="201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37081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1993392"/>
            <a:ext cx="2084831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58384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F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2240280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3246120"/>
            <a:ext cx="1773936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Manually check a sample; separate app defects from employer/operations constraints; avoid unsupported percentages.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743200"/>
            <a:ext cx="201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37081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1993392"/>
            <a:ext cx="2084831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8096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D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240280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246120"/>
            <a:ext cx="1773936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Create issues with owner, severity, evidence, acceptance criteria, and KPI; link repeated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743200"/>
            <a:ext cx="20116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637081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7232" y="1993392"/>
            <a:ext cx="2084831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03536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32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03536" y="2240280"/>
            <a:ext cx="457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788920"/>
            <a:ext cx="1783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F36"/>
                </a:solidFill>
                <a:latin typeface="Aptos"/>
              </a:rPr>
              <a:t>RECHECK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3246120"/>
            <a:ext cx="1773936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041"/>
                </a:solidFill>
                <a:latin typeface="Aptos"/>
              </a:rPr>
              <a:t>Compare the next review window and operational metrics; update priorities and release notes.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4800600"/>
            <a:ext cx="10881360" cy="1143000"/>
          </a:xfrm>
          <a:prstGeom prst="roundRect">
            <a:avLst>
              <a:gd name="adj" fmla="val 12000"/>
            </a:avLst>
          </a:prstGeom>
          <a:solidFill>
            <a:srgbClr val="12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4983480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9991"/>
                </a:solidFill>
                <a:latin typeface="Aptos"/>
              </a:rPr>
              <a:t>OUTPUT EACH WEEK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5303520"/>
            <a:ext cx="10195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A short Markdown/CSV report • top emerging themes • sample evidence • open issues and owners • rating + operational KPI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172200"/>
            <a:ext cx="10698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37081"/>
                </a:solidFill>
                <a:latin typeface="Aptos"/>
              </a:rPr>
              <a:t>Built: review_monitor.py (Python, google-play-scraper + pandas) is in the repo; weekly summary, trend, themes, worst app versions. Check source terms before scheduling.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991"/>
                </a:solidFill>
                <a:latin typeface="Aptos"/>
              </a:rPr>
              <a:t>08 /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070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Fix trust at the moments that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029968"/>
            <a:ext cx="9966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0DCEA"/>
                </a:solidFill>
                <a:latin typeface="Aptos"/>
              </a:rPr>
              <a:t>Booking confirmation → reliable pickup information → fair check-in → visible resolution.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2971800"/>
            <a:ext cx="10698480" cy="18288"/>
          </a:xfrm>
          <a:prstGeom prst="rect">
            <a:avLst/>
          </a:prstGeom>
          <a:solidFill>
            <a:srgbClr val="455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246120"/>
            <a:ext cx="4754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991"/>
                </a:solidFill>
                <a:latin typeface="Aptos"/>
              </a:rPr>
              <a:t>METHOD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639312"/>
            <a:ext cx="4983480" cy="141732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Read the assignment brief and FDE job description.</a:t>
            </a:r>
          </a:p>
          <a:p>
            <a:pPr>
              <a:spcAft>
                <a:spcPts val="9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Reviewed the public Google Play listings and visible review text that I collected (Oct 2026).</a:t>
            </a:r>
          </a:p>
          <a:p>
            <a:pPr>
              <a:spcAft>
                <a:spcPts val="9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Used structured qualitative coding and AI-assisted synthesis; recommendations remain hypotheses.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46120"/>
            <a:ext cx="4572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FB44C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3639312"/>
            <a:ext cx="4846320" cy="1417320"/>
          </a:xfrm>
          <a:prstGeom prst="rect">
            <a:avLst/>
          </a:prstGeom>
          <a:noFill/>
        </p:spPr>
        <p:txBody>
          <a:bodyPr wrap="square" lIns="18288" rIns="36576" tIns="18288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Review samples are self-selected and not representative by default.</a:t>
            </a:r>
          </a:p>
          <a:p>
            <a:pPr>
              <a:spcAft>
                <a:spcPts val="9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Star labels were not preserved on collected text; no bucket percentages are claimed.</a:t>
            </a:r>
          </a:p>
          <a:p>
            <a:pPr>
              <a:spcAft>
                <a:spcPts val="9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No internal telemetry. Scope is the employee app; driver apps (Driver Partner 3.5, Partner Lite 4.2) are a follow-up track.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5715000"/>
            <a:ext cx="10698480" cy="530352"/>
          </a:xfrm>
          <a:prstGeom prst="roundRect">
            <a:avLst>
              <a:gd name="adj" fmla="val 12000"/>
            </a:avLst>
          </a:prstGeom>
          <a:solidFill>
            <a:srgbClr val="0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33872"/>
            <a:ext cx="10287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Success = fewer failed or confusing trips, not simply more positive prompts.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473952"/>
            <a:ext cx="8046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A5B6CB"/>
                </a:solidFill>
                <a:latin typeface="Aptos"/>
              </a:rPr>
              <a:t>NILANSHU KUMAR SINGH  •  MOVEINSYNC FDE CANDIDATE ASSIGNMENT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